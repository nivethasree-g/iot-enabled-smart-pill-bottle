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8" r:id="rId13"/>
  </p:sldIdLst>
  <p:sldSz cx="14630400" cy="8229600"/>
  <p:notesSz cx="8229600" cy="14630400"/>
  <p:embeddedFontLst>
    <p:embeddedFont>
      <p:font typeface="Bitter Medium" panose="020B0604020202020204" charset="0"/>
      <p:regular r:id="rId15"/>
    </p:embeddedFont>
    <p:embeddedFont>
      <p:font typeface="Open Sans" panose="020B0606030504020204" pitchFamily="34" charset="0"/>
      <p:regular r:id="rId16"/>
      <p:bold r:id="rId17"/>
      <p: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1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013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58523" y="473336"/>
            <a:ext cx="8143538" cy="7508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endParaRPr lang="en-US" sz="2000" dirty="0">
              <a:solidFill>
                <a:srgbClr val="2C3F42"/>
              </a:solidFill>
              <a:latin typeface="Bitter Medium" pitchFamily="34" charset="0"/>
              <a:ea typeface="Bitter Medium" pitchFamily="34" charset="-122"/>
              <a:cs typeface="Bitter Medium" pitchFamily="34" charset="-120"/>
            </a:endParaRPr>
          </a:p>
          <a:p>
            <a:pPr>
              <a:lnSpc>
                <a:spcPts val="5550"/>
              </a:lnSpc>
            </a:pPr>
            <a:endParaRPr lang="en-US" sz="2000" dirty="0">
              <a:solidFill>
                <a:srgbClr val="2C3F42"/>
              </a:solidFill>
              <a:latin typeface="Bitter Medium" pitchFamily="34" charset="0"/>
              <a:ea typeface="Bitter Medium" pitchFamily="34" charset="-122"/>
              <a:cs typeface="Bitter Medium" pitchFamily="34" charset="-120"/>
            </a:endParaRPr>
          </a:p>
          <a:p>
            <a:pPr>
              <a:lnSpc>
                <a:spcPts val="5550"/>
              </a:lnSpc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TITLE:- </a:t>
            </a:r>
            <a:r>
              <a:rPr lang="en-US" sz="2200" dirty="0">
                <a:solidFill>
                  <a:srgbClr val="2C3F42"/>
                </a:solidFill>
                <a:latin typeface="Bitter Medium" pitchFamily="34" charset="0"/>
              </a:rPr>
              <a:t>IoT-ENABLED SMART PILL BOTTLE FOR MEDICINE </a:t>
            </a:r>
          </a:p>
          <a:p>
            <a:pPr algn="ctr">
              <a:lnSpc>
                <a:spcPts val="5550"/>
              </a:lnSpc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</a:rPr>
              <a:t>   REORDERING</a:t>
            </a:r>
          </a:p>
          <a:p>
            <a:pPr>
              <a:lnSpc>
                <a:spcPts val="5550"/>
              </a:lnSpc>
            </a:pPr>
            <a:endParaRPr lang="en-US" sz="2000" dirty="0">
              <a:solidFill>
                <a:srgbClr val="2C3F42"/>
              </a:solidFill>
              <a:latin typeface="Bitter Medium" pitchFamily="34" charset="0"/>
            </a:endParaRPr>
          </a:p>
          <a:p>
            <a:pPr>
              <a:lnSpc>
                <a:spcPts val="5550"/>
              </a:lnSpc>
            </a:pPr>
            <a:r>
              <a:rPr lang="en-US" sz="2000" dirty="0">
                <a:solidFill>
                  <a:srgbClr val="2C3F42"/>
                </a:solidFill>
                <a:latin typeface="Bitter Medium" pitchFamily="34" charset="0"/>
              </a:rPr>
              <a:t> BY:- </a:t>
            </a:r>
          </a:p>
          <a:p>
            <a:pPr>
              <a:lnSpc>
                <a:spcPts val="5550"/>
              </a:lnSpc>
            </a:pPr>
            <a:endParaRPr lang="en-US" sz="2000" dirty="0">
              <a:solidFill>
                <a:srgbClr val="2C3F42"/>
              </a:solidFill>
              <a:latin typeface="Bitter Medium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D372D5-5953-BE33-7A48-871B040A9344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F30025B-ECB4-8539-CE4F-42433DE461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631712"/>
              </p:ext>
            </p:extLst>
          </p:nvPr>
        </p:nvGraphicFramePr>
        <p:xfrm>
          <a:off x="5658523" y="5064311"/>
          <a:ext cx="6866964" cy="2245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33482">
                  <a:extLst>
                    <a:ext uri="{9D8B030D-6E8A-4147-A177-3AD203B41FA5}">
                      <a16:colId xmlns:a16="http://schemas.microsoft.com/office/drawing/2014/main" val="1431251775"/>
                    </a:ext>
                  </a:extLst>
                </a:gridCol>
                <a:gridCol w="3433482">
                  <a:extLst>
                    <a:ext uri="{9D8B030D-6E8A-4147-A177-3AD203B41FA5}">
                      <a16:colId xmlns:a16="http://schemas.microsoft.com/office/drawing/2014/main" val="41676104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50" kern="1200" dirty="0">
                          <a:solidFill>
                            <a:srgbClr val="2C3F4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NAME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50" kern="1200" dirty="0">
                          <a:solidFill>
                            <a:srgbClr val="2C3F4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USN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56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dirty="0">
                          <a:solidFill>
                            <a:srgbClr val="2C3F4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 ABHIRAM  </a:t>
                      </a:r>
                    </a:p>
                    <a:p>
                      <a:endParaRPr lang="en-IN" sz="175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1CR25EC073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150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dirty="0">
                          <a:solidFill>
                            <a:srgbClr val="2C3F4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 ABHISHEK</a:t>
                      </a:r>
                    </a:p>
                    <a:p>
                      <a:endParaRPr lang="en-IN" sz="175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1CR25EC074</a:t>
                      </a:r>
                    </a:p>
                    <a:p>
                      <a:endParaRPr lang="en-IN" sz="175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390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50" dirty="0">
                          <a:solidFill>
                            <a:srgbClr val="2C3F42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 NIVETHASREE</a:t>
                      </a:r>
                    </a:p>
                    <a:p>
                      <a:endParaRPr lang="en-IN" sz="1750" dirty="0"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750" dirty="0"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1CR25EC075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6652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773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Introduction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89" y="1828989"/>
            <a:ext cx="13042821" cy="354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endParaRPr lang="en-US" sz="1750" dirty="0"/>
          </a:p>
          <a:p>
            <a:pPr>
              <a:lnSpc>
                <a:spcPts val="2850"/>
              </a:lnSpc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EBED38-559C-5801-72AB-91D050A3E6E6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8DE1FF-8082-A8E4-2546-AF169652D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89" y="1902131"/>
            <a:ext cx="10749168" cy="5209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Medication adherence is a critical challenge in healthcare systems worldwide.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Elderly patients and individuals with chronic illnesses require continuous and long-term medication.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Forgetting to monitor the remaining quantity of medicines may result in missed doses and delayed refills.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Manual checking of medicine stock is unreliable and depends heavily on user attention.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Delayed medicine intake can lead to serious health complications.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Recent advancements in Internet of Things (IoT) and embedded systems enable automation in healthcare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Automated monitoring improves accuracy, reliability, and efficiency of medication management.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project proposes a </a:t>
            </a:r>
            <a:r>
              <a:rPr kumimoji="0" lang="en-US" altLang="en-US" sz="17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Smart Pill Bottle</a:t>
            </a: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that automatically monitors pill quantity.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system assists users by providing timely information for medicine reordering.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3310" y="860612"/>
            <a:ext cx="4566999" cy="1466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824390" y="2780824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780824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038118"/>
            <a:ext cx="39476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Manual checking is unreliable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52853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checking of remaining medicines is unreliable and error-prone.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780824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780824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038118"/>
            <a:ext cx="49924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Reordering delays cause health issues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52853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Delay in reordering medicines can cause serious health issues.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738449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73844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995743"/>
            <a:ext cx="35229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Existing systems are costly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486162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Existing smart pill management systems are costly and complex.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738449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8F0"/>
          </a:solidFill>
          <a:ln w="30480">
            <a:solidFill>
              <a:srgbClr val="E2C8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738449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D2600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995743"/>
            <a:ext cx="41071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Need for an affordable solution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486162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There is a need for a </a:t>
            </a:r>
            <a:r>
              <a:rPr lang="en-US" sz="1750" b="1" dirty="0">
                <a:solidFill>
                  <a:srgbClr val="D2600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simple, affordable, and automated solution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monitor pill quantity.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D1EB71-7A6C-977A-524F-1E52684D1185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7732" y="742279"/>
            <a:ext cx="4652577" cy="82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Literature Review</a:t>
            </a:r>
            <a:endParaRPr lang="en-US" sz="35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6FE820-A92D-535D-4230-49C0E15B3CE8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10D189-02C0-7897-8542-BB2933266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732" y="1739594"/>
            <a:ext cx="11230983" cy="5747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Existing smart pill boxes primarily use alarms, buzzers, or reminder mechanisms to improve medication adherence.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Mobile-based medication applications mainly focus on dose timing notifications and schedule management.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Several IoT-based healthcare systems utilize cloud platforms to enable remote patient monitoring and data storage.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Some advanced solutions integrate wearable devices and mobile applications for health data tracking.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Most existing systems depend on user interaction and do not provide automatic monitoring of medicine quantity.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pill quantity measurement is not addressed in most current solutions.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Lack of pill-level sensing limits the ability to predict refill requirements accurately.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cost and complexity of existing systems restrict their adoption in common household environments.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Therefore, existing solutions are not effective in preventing delayed medicine reordering.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754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Research Gap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7455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2823448"/>
            <a:ext cx="4799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Lack of physical pill level monitoring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3330179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systems that monitor the physical pill level inside the bottle.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56884" y="27455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4000" y="2823448"/>
            <a:ext cx="33305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High cost and complexity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94000" y="3313867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cost and complexity of existing smart medication systems.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4933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0906" y="4571167"/>
            <a:ext cx="50998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Limited focus on automatic reordering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30906" y="5061585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focus on automatic medicine reordering indication.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56884" y="44933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4000" y="4571167"/>
            <a:ext cx="56426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Need for low-cost sensor-mobile integration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94000" y="5415915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Need for a low-cost solution combining sensor-based monitoring and mobile application support.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002153-6784-3BC8-FEF6-73BDEA5F1B55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6713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Objectives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8877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242780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417088"/>
            <a:ext cx="43480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Design for automatic monitoring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290750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design a smart pill bottle for automatic pill quantity monitoring.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188773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242780"/>
            <a:ext cx="64080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417088"/>
            <a:ext cx="51582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Detect pill levels with ultrasonic sensor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2907506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detect pill levels using an ultrasonic sensor.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03014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385191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559498"/>
            <a:ext cx="34551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Process data with Arduino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04991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process data using an Arduino microcontroller.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03014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385191"/>
            <a:ext cx="64080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559498"/>
            <a:ext cx="53211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Transmit status wirelessly to mobile app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04991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transmit pill status wirelessly to a mobile application.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8096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164699"/>
            <a:ext cx="6407944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6339007"/>
            <a:ext cx="48141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Provide timely reordering indication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82942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provide timely medicine reordering indication.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548" y="58096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Bitter Light" pitchFamily="34" charset="0"/>
                <a:ea typeface="Bitter Light" pitchFamily="34" charset="-122"/>
                <a:cs typeface="Bitter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6164699"/>
            <a:ext cx="6408063" cy="30480"/>
          </a:xfrm>
          <a:prstGeom prst="rect">
            <a:avLst/>
          </a:prstGeom>
          <a:solidFill>
            <a:srgbClr val="D2600F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548" y="6339007"/>
            <a:ext cx="63260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Develop cost-effective and user-friendly system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548" y="682942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develop a cost-effective and user-friendly system.</a:t>
            </a:r>
            <a:endParaRPr lang="en-US" sz="17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185D0A-7ED8-2514-3F58-1C1A91895023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7837" y="882127"/>
            <a:ext cx="8838591" cy="57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Methodology</a:t>
            </a:r>
            <a:endParaRPr lang="en-US" sz="35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27246-6C18-6A25-2199-93268F55A291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5484CBC2-1D4C-CAA8-8BD0-1F1F07C1A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32" y="2169820"/>
            <a:ext cx="7769389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50" dirty="0">
                <a:solidFill>
                  <a:srgbClr val="2C3F42"/>
                </a:solidFill>
                <a:latin typeface="Bitter Medium" pitchFamily="34" charset="0"/>
              </a:rPr>
              <a:t>Ultrasonic sensor measures the distance to the pill level inside the bottle.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50" dirty="0">
                <a:solidFill>
                  <a:srgbClr val="2C3F42"/>
                </a:solidFill>
                <a:latin typeface="Bitter Medium" pitchFamily="34" charset="0"/>
              </a:rPr>
              <a:t>Arduino processes the sensor data and compares it with threshold values.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50" dirty="0">
                <a:solidFill>
                  <a:srgbClr val="2C3F42"/>
                </a:solidFill>
                <a:latin typeface="Bitter Medium" pitchFamily="34" charset="0"/>
              </a:rPr>
              <a:t>Pill status is determined as sufficient or low.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50" dirty="0">
                <a:solidFill>
                  <a:srgbClr val="2C3F42"/>
                </a:solidFill>
                <a:latin typeface="Bitter Medium" pitchFamily="34" charset="0"/>
              </a:rPr>
              <a:t>Bluetooth (HC-05) transmits the data to the mobile application.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750" dirty="0">
                <a:solidFill>
                  <a:srgbClr val="2C3F42"/>
                </a:solidFill>
                <a:latin typeface="Bitter Medium" pitchFamily="34" charset="0"/>
              </a:rPr>
              <a:t>The mobile application displays pill status to the user.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750" dirty="0">
                <a:solidFill>
                  <a:srgbClr val="2C3F42"/>
                </a:solidFill>
                <a:latin typeface="Bitter Medium" pitchFamily="34" charset="0"/>
              </a:rPr>
              <a:t>Threshold values are predefined to classify pill levels accurately.</a:t>
            </a:r>
            <a:endParaRPr lang="en-US" altLang="en-US" sz="1750" dirty="0">
              <a:solidFill>
                <a:srgbClr val="2C3F42"/>
              </a:solidFill>
              <a:latin typeface="Bitter Medium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1E30DD-F916-A7D5-1635-40C34450F2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028" y="1171439"/>
            <a:ext cx="5303303" cy="6176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5413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System Architecture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034064"/>
            <a:ext cx="7556421" cy="3387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Ultrasonic Sensor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Detects pill level.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Microcontroller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Processes sensor data.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Bluetooth Module (HC-05)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Enables wireless communication.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Mobile Application</a:t>
            </a: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– Displays pill status and reorder indication.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853B74-8326-4BBB-FB34-C90CF9C868EE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DE1B31-2505-9760-7CBF-DDD37116B1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231" y="1095487"/>
            <a:ext cx="7960658" cy="53071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5CCB65-DB55-84A7-827A-48FD520E5F97}"/>
              </a:ext>
            </a:extLst>
          </p:cNvPr>
          <p:cNvSpPr txBox="1"/>
          <p:nvPr/>
        </p:nvSpPr>
        <p:spPr>
          <a:xfrm>
            <a:off x="5282004" y="6691256"/>
            <a:ext cx="3754419" cy="586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50"/>
              </a:lnSpc>
            </a:pPr>
            <a:r>
              <a:rPr lang="en-US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Fig:- System Architecture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797DBD-6BBB-4D3D-55E9-91B72C59B73A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544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964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Results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947571"/>
            <a:ext cx="3090505" cy="3309580"/>
          </a:xfrm>
          <a:prstGeom prst="roundRect">
            <a:avLst>
              <a:gd name="adj" fmla="val 308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320468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3391733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4111943"/>
            <a:ext cx="2621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Accurate Detection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4602361"/>
            <a:ext cx="26216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Accurate detection of pill quantity under normal operating conditions.</a:t>
            </a:r>
          </a:p>
        </p:txBody>
      </p:sp>
      <p:sp>
        <p:nvSpPr>
          <p:cNvPr id="8" name="Shape 5"/>
          <p:cNvSpPr/>
          <p:nvPr/>
        </p:nvSpPr>
        <p:spPr>
          <a:xfrm>
            <a:off x="4111109" y="2970252"/>
            <a:ext cx="3090624" cy="3309580"/>
          </a:xfrm>
          <a:prstGeom prst="roundRect">
            <a:avLst>
              <a:gd name="adj" fmla="val 308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5543" y="320468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32709" y="3391733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45543" y="4111943"/>
            <a:ext cx="26217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Successful Transmission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345543" y="4956691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Successful wireless data transmission to the mobile application.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428548" y="2970252"/>
            <a:ext cx="3090624" cy="3309580"/>
          </a:xfrm>
          <a:prstGeom prst="roundRect">
            <a:avLst>
              <a:gd name="adj" fmla="val 308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62982" y="320468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50148" y="339173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62982" y="4111943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Clear Indication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662982" y="4602361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display of pill status and reorder indication.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10745986" y="2970252"/>
            <a:ext cx="3090624" cy="3309580"/>
          </a:xfrm>
          <a:prstGeom prst="roundRect">
            <a:avLst>
              <a:gd name="adj" fmla="val 3082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980420" y="320468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D2600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67586" y="339173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80420" y="4111943"/>
            <a:ext cx="262175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Reduced Manual Monitoring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980420" y="4956691"/>
            <a:ext cx="26217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Reduction in manual medicine monitoring.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949448-A2D7-0DD4-5973-A6133BB247E6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392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1" y="1753496"/>
            <a:ext cx="11147198" cy="557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C6630B-826C-E118-EF23-B05F567269B3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D4D353-1A7D-1E85-9B2A-230B8F035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70" y="2088203"/>
            <a:ext cx="11891750" cy="41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Smart Pill Bottle provides an efficient and automated solution for monitoring medicine quantity.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of hardware and software components ensures reliable and consistent system operation.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system reduces dependency on manual checking of medicine levels.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Timely indication of low medicine levels helps prevent missed doses and delayed reordering.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solution is affordable, user-friendly, and suitable for home healthcare applications.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prototype demonstrates stable performance under normal operating conditions.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project highlights the practical application of Internet of Things (IoT) in healthcare management.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system has potential for further enhancement and real-world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240046-5120-CE5B-B056-C36D8443A4A7}"/>
              </a:ext>
            </a:extLst>
          </p:cNvPr>
          <p:cNvSpPr/>
          <p:nvPr/>
        </p:nvSpPr>
        <p:spPr>
          <a:xfrm>
            <a:off x="12855388" y="7788536"/>
            <a:ext cx="1656678" cy="322730"/>
          </a:xfrm>
          <a:prstGeom prst="rect">
            <a:avLst/>
          </a:prstGeom>
          <a:solidFill>
            <a:srgbClr val="FDF1E9"/>
          </a:solidFill>
          <a:ln>
            <a:solidFill>
              <a:srgbClr val="FDF1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A985C-2EAE-8C33-D956-2AD06CCA625B}"/>
              </a:ext>
            </a:extLst>
          </p:cNvPr>
          <p:cNvSpPr txBox="1"/>
          <p:nvPr/>
        </p:nvSpPr>
        <p:spPr>
          <a:xfrm>
            <a:off x="4324574" y="3137297"/>
            <a:ext cx="59812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solidFill>
                  <a:srgbClr val="2C3F42"/>
                </a:solidFill>
                <a:latin typeface="Bitter Medium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4676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772</Words>
  <Application>Microsoft Office PowerPoint</Application>
  <PresentationFormat>Custom</PresentationFormat>
  <Paragraphs>150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Bitter Medium</vt:lpstr>
      <vt:lpstr>Bitter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Nivethasree Giridhar</cp:lastModifiedBy>
  <cp:revision>5</cp:revision>
  <dcterms:created xsi:type="dcterms:W3CDTF">2026-02-17T11:16:31Z</dcterms:created>
  <dcterms:modified xsi:type="dcterms:W3CDTF">2026-02-17T12:14:30Z</dcterms:modified>
</cp:coreProperties>
</file>